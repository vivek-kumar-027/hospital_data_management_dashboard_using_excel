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533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5309" y="2567136"/>
            <a:ext cx="11041380" cy="754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940"/>
              </a:lnSpc>
            </a:pPr>
            <a:r>
              <a:rPr sz="5400" b="1" i="0" u="none">
                <a:solidFill>
                  <a:srgbClr val="FFFFFF"/>
                </a:solidFill>
                <a:latin typeface="Space Grotesk"/>
              </a:rPr>
              <a:t>Hospital ER </a:t>
            </a:r>
            <a:r>
              <a:rPr sz="5400" b="1" i="0" u="none">
                <a:solidFill>
                  <a:srgbClr val="F59E0B"/>
                </a:solidFill>
                <a:latin typeface="Space Grotesk"/>
              </a:rPr>
              <a:t>Operations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559522"/>
            <a:ext cx="76200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>
                <a:solidFill>
                  <a:srgbClr val="D1D5DB"/>
                </a:solidFill>
                <a:latin typeface="Outfit"/>
              </a:rPr>
              <a:t>Comprehensive performance review of patient flow, triage efficiency, and demographic volume based on the 2023-2024 Dashboard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005012"/>
            <a:ext cx="11601450" cy="1943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1" i="0" u="none">
                <a:solidFill>
                  <a:srgbClr val="FFFFFF"/>
                </a:solidFill>
                <a:latin typeface="Space Grotesk"/>
              </a:rPr>
              <a:t>Project Overview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4548187"/>
            <a:ext cx="11049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Defining the scope and objectives of our ER data 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066925"/>
            <a:ext cx="5238750" cy="381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047875"/>
            <a:ext cx="550068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E5E7EB"/>
                </a:solidFill>
                <a:latin typeface="Space Grotesk"/>
              </a:rPr>
              <a:t>Data-Driven Healthcare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533650"/>
            <a:ext cx="52387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This initiative leverages a comprehensive dataset of Emergency Room records to identify critical bottlenecks in patient care and operational throughput.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275" y="2076450"/>
            <a:ext cx="5219700" cy="37909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50" y="3638550"/>
            <a:ext cx="4953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9CA3AF"/>
                </a:solidFill>
                <a:latin typeface="Outfit"/>
              </a:rPr>
              <a:t>Dataset Scope: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Analyzing 952 distinct patient interactions from 2023-2024.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391025"/>
            <a:ext cx="4953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9CA3AF"/>
                </a:solidFill>
                <a:latin typeface="Outfit"/>
              </a:rPr>
              <a:t>Dashboard Filtering: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The current analytical view isolates </a:t>
            </a:r>
            <a:r>
              <a:rPr sz="1500" b="1" i="0" u="none">
                <a:solidFill>
                  <a:srgbClr val="9CA3AF"/>
                </a:solidFill>
                <a:latin typeface="Outfit"/>
              </a:rPr>
              <a:t>479 specific records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for targeted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5143500"/>
            <a:ext cx="4953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9CA3AF"/>
                </a:solidFill>
                <a:latin typeface="Outfit"/>
              </a:rPr>
              <a:t>Primary Goal: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Improve SLA compliance for wait times and elevate overall patient satisfaction scores.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3638550"/>
            <a:ext cx="190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391025"/>
            <a:ext cx="190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5143500"/>
            <a:ext cx="190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50" b="1" i="0" u="none">
                <a:solidFill>
                  <a:srgbClr val="FFFFFF"/>
                </a:solidFill>
                <a:latin typeface="Space Grotesk"/>
              </a:rPr>
              <a:t>Initiative </a:t>
            </a:r>
            <a:r>
              <a:rPr sz="3450" b="1" i="0" u="none">
                <a:solidFill>
                  <a:srgbClr val="38BDF8"/>
                </a:solidFill>
                <a:latin typeface="Space Grotesk"/>
              </a:rPr>
              <a:t>Background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085850"/>
            <a:ext cx="11049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9750" y="5943600"/>
            <a:ext cx="85725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1" u="none">
                <a:solidFill>
                  <a:srgbClr val="9CA3AF"/>
                </a:solidFill>
                <a:latin typeface="Outfit"/>
              </a:rPr>
              <a:t>Fig 1.0: Master ER Dashboard.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The interface aggregates key performance indicators, admission statuses, departmental referrals, and demographic distributions into a single, interactive pane of glass.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4" y="1247775"/>
            <a:ext cx="11913833" cy="424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0"/>
            <a:ext cx="11601450" cy="561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50" b="1" i="0" u="none">
                <a:solidFill>
                  <a:srgbClr val="FFFFFF"/>
                </a:solidFill>
                <a:latin typeface="Space Grotesk"/>
              </a:rPr>
              <a:t>Executive </a:t>
            </a:r>
            <a:r>
              <a:rPr sz="3450" b="1" i="0" u="none">
                <a:solidFill>
                  <a:srgbClr val="38BDF8"/>
                </a:solidFill>
                <a:latin typeface="Space Grotesk"/>
              </a:rPr>
              <a:t>Dashboard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6953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490787"/>
            <a:ext cx="1160145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1" i="0" u="none">
                <a:solidFill>
                  <a:srgbClr val="FFFFFF"/>
                </a:solidFill>
                <a:latin typeface="Space Grotesk"/>
              </a:rPr>
              <a:t>Core Performance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4062412"/>
            <a:ext cx="11049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Evaluating the top-level Key Performance Indicators (KPIs).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576387"/>
            <a:ext cx="5238750" cy="1438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3252787"/>
            <a:ext cx="5238750" cy="14382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4929187"/>
            <a:ext cx="5238750" cy="1438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576387"/>
            <a:ext cx="550068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E5E7EB"/>
                </a:solidFill>
                <a:latin typeface="Space Grotesk"/>
              </a:rPr>
              <a:t>Operational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062162"/>
            <a:ext cx="52387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The dashboard isolates three primary metrics that define the current state of our emergency room efficiency based on the filtered selection.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167062"/>
            <a:ext cx="52387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While patient volume remains steady, the </a:t>
            </a:r>
            <a:r>
              <a:rPr sz="1500" b="1" i="0" u="none">
                <a:solidFill>
                  <a:srgbClr val="9CA3AF"/>
                </a:solidFill>
                <a:latin typeface="Outfit"/>
              </a:rPr>
              <a:t>Average Wait Time of nearly 35 minutes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exceeds standard target SLAs. Furthermore, the </a:t>
            </a:r>
            <a:r>
              <a:rPr sz="1500" b="1" i="0" u="none">
                <a:solidFill>
                  <a:srgbClr val="9CA3AF"/>
                </a:solidFill>
                <a:latin typeface="Outfit"/>
              </a:rPr>
              <a:t>Patient Satisfaction Score (5.30)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indicates average-to-poor patient sentiment, directly correlating with extended wait times in the triage queue.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725" y="2066925"/>
            <a:ext cx="571500" cy="457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2325" y="3743325"/>
            <a:ext cx="342900" cy="4572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10875" y="5419725"/>
            <a:ext cx="51435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05600" y="1871662"/>
            <a:ext cx="1452562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800" b="1" i="0" u="none">
                <a:solidFill>
                  <a:srgbClr val="FFFFFF"/>
                </a:solidFill>
                <a:latin typeface="Space Grotesk"/>
              </a:rPr>
              <a:t>479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0" y="2528887"/>
            <a:ext cx="1452562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CA3AF"/>
                </a:solidFill>
                <a:latin typeface="Outfit SemiBold"/>
              </a:rPr>
              <a:t>NO. OF PATIENTS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0" y="3548062"/>
            <a:ext cx="1838325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800" b="1" i="0" u="none">
                <a:solidFill>
                  <a:srgbClr val="FFFFFF"/>
                </a:solidFill>
                <a:latin typeface="Space Grotesk"/>
              </a:rPr>
              <a:t>34.90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600" y="4205287"/>
            <a:ext cx="18383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CA3AF"/>
                </a:solidFill>
                <a:latin typeface="Outfit SemiBold"/>
              </a:rPr>
              <a:t>AVG. WAIT TIME (MIN)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0" y="5224462"/>
            <a:ext cx="2600325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800" b="1" i="0" u="none">
                <a:solidFill>
                  <a:srgbClr val="FFFFFF"/>
                </a:solidFill>
                <a:latin typeface="Space Grotesk"/>
              </a:rPr>
              <a:t>5.30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600" y="5881687"/>
            <a:ext cx="26003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CA3AF"/>
                </a:solidFill>
                <a:latin typeface="Outfit SemiBold"/>
              </a:rPr>
              <a:t>PATIENT SATISFACTION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490537"/>
            <a:ext cx="11601450" cy="561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50" b="1" i="0" u="none">
                <a:solidFill>
                  <a:srgbClr val="FFFFFF"/>
                </a:solidFill>
                <a:latin typeface="Space Grotesk"/>
              </a:rPr>
              <a:t>Top-Level </a:t>
            </a:r>
            <a:r>
              <a:rPr sz="3450" b="1" i="0" u="none">
                <a:solidFill>
                  <a:srgbClr val="38BDF8"/>
                </a:solidFill>
                <a:latin typeface="Space Grotesk"/>
              </a:rPr>
              <a:t>KPI 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1185862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490787"/>
            <a:ext cx="1160145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1" i="0" u="none">
                <a:solidFill>
                  <a:srgbClr val="FFFFFF"/>
                </a:solidFill>
                <a:latin typeface="Space Grotesk"/>
              </a:rPr>
              <a:t>Patient Flow &amp;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4062412"/>
            <a:ext cx="11049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Analyzing SLA compliance, attendance status, and hospital admission rates.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24075"/>
            <a:ext cx="11049000" cy="3695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81750" y="2719387"/>
            <a:ext cx="550068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E5E7EB"/>
                </a:solidFill>
                <a:latin typeface="Space Grotesk"/>
              </a:rPr>
              <a:t>Critical SLA Breach Identified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81750" y="3205162"/>
            <a:ext cx="52387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The visual analysis reveals a significant operational bottleneck: </a:t>
            </a:r>
            <a:r>
              <a:rPr sz="1500" b="1" i="0" u="none">
                <a:solidFill>
                  <a:srgbClr val="9CA3AF"/>
                </a:solidFill>
                <a:latin typeface="Outfit"/>
              </a:rPr>
              <a:t>57% of all patients (273 individuals) experienced a delay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, failing to meet the required triage time standards.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1750" y="4310062"/>
            <a:ext cx="52387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This high volume of delayed care is the primary driver behind the low Patient Satisfaction score observed in the KPI overview. Restructuring the initial intake process is paramount.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50" b="1" i="0" u="none">
                <a:solidFill>
                  <a:srgbClr val="FFFFFF"/>
                </a:solidFill>
                <a:latin typeface="Space Grotesk"/>
              </a:rPr>
              <a:t>Wait Time SLA </a:t>
            </a:r>
            <a:r>
              <a:rPr sz="3450" b="1" i="0" u="none">
                <a:solidFill>
                  <a:srgbClr val="38BDF8"/>
                </a:solidFill>
                <a:latin typeface="Space Grotesk"/>
              </a:rPr>
              <a:t>Compliance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414587"/>
            <a:ext cx="11049000" cy="3114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414587"/>
            <a:ext cx="550068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E5E7EB"/>
                </a:solidFill>
                <a:latin typeface="Space Grotesk"/>
              </a:rPr>
              <a:t>High Acuity Bottlenecks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900362"/>
            <a:ext cx="52387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The data shows an almost perfectly even split in admission outcomes, with </a:t>
            </a:r>
            <a:r>
              <a:rPr sz="1500" b="1" i="0" u="none">
                <a:solidFill>
                  <a:srgbClr val="9CA3AF"/>
                </a:solidFill>
                <a:latin typeface="Outfit"/>
              </a:rPr>
              <a:t>49% of ER visits (237 patients) resulting in a formal hospital admission.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4005262"/>
            <a:ext cx="52387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This extremely high acuity rate requires extensive physician resources, diagnostic testing, and inpatient bed coordination. When inpatient beds are unavailable, these admitted patients board in the ER, severely restricting front-end throughput and exacerbating the 57% delay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50" b="1" i="0" u="none">
                <a:solidFill>
                  <a:srgbClr val="FFFFFF"/>
                </a:solidFill>
                <a:latin typeface="Space Grotesk"/>
              </a:rPr>
              <a:t>Hospital </a:t>
            </a:r>
            <a:r>
              <a:rPr sz="3450" b="1" i="0" u="none">
                <a:solidFill>
                  <a:srgbClr val="38BDF8"/>
                </a:solidFill>
                <a:latin typeface="Space Grotesk"/>
              </a:rPr>
              <a:t>Admission Rates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005012"/>
            <a:ext cx="11601450" cy="1943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1" i="0" u="none">
                <a:solidFill>
                  <a:srgbClr val="FFFFFF"/>
                </a:solidFill>
                <a:latin typeface="Space Grotesk"/>
              </a:rPr>
              <a:t>Departmental &amp; Demographic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4548187"/>
            <a:ext cx="11049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Breaking down patient origins, age groups, and gender distributions.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95512"/>
            <a:ext cx="11049000" cy="35528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81750" y="2566987"/>
            <a:ext cx="550068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E5E7EB"/>
                </a:solidFill>
                <a:latin typeface="Space Grotesk"/>
              </a:rPr>
              <a:t>The Walk-In Burden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81750" y="3052762"/>
            <a:ext cx="52387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The referral data clearly illustrates that the vast majority of ER patients </a:t>
            </a:r>
            <a:r>
              <a:rPr sz="1500" b="1" i="0" u="none">
                <a:solidFill>
                  <a:srgbClr val="9CA3AF"/>
                </a:solidFill>
                <a:latin typeface="Outfit"/>
              </a:rPr>
              <a:t>(263 patients) arrived with "None"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(no prior departmental or GP referral).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1750" y="4157662"/>
            <a:ext cx="5238750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Unreferred, walk-in patients typically require more extensive initial diagnostics, administrative processing, and triage time compared to patients referred by a General Practice (115 patients). This directly impacts the triage queue speed.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50" b="1" i="0" u="none">
                <a:solidFill>
                  <a:srgbClr val="FFFFFF"/>
                </a:solidFill>
                <a:latin typeface="Space Grotesk"/>
              </a:rPr>
              <a:t>Department </a:t>
            </a:r>
            <a:r>
              <a:rPr sz="3450" b="1" i="0" u="none">
                <a:solidFill>
                  <a:srgbClr val="38BDF8"/>
                </a:solidFill>
                <a:latin typeface="Space Grotesk"/>
              </a:rPr>
              <a:t>Referral Volume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57350"/>
            <a:ext cx="11049000" cy="462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50" b="1" i="0" u="none">
                <a:solidFill>
                  <a:srgbClr val="FFFFFF"/>
                </a:solidFill>
                <a:latin typeface="Space Grotesk"/>
              </a:rPr>
              <a:t>Demographic Volume </a:t>
            </a:r>
            <a:r>
              <a:rPr sz="3450" b="1" i="0" u="none">
                <a:solidFill>
                  <a:srgbClr val="38BDF8"/>
                </a:solidFill>
                <a:latin typeface="Space Grotesk"/>
              </a:rPr>
              <a:t>(Age Groups)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24075"/>
            <a:ext cx="11049000" cy="3695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719387"/>
            <a:ext cx="550068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E5E7EB"/>
                </a:solidFill>
                <a:latin typeface="Space Grotesk"/>
              </a:rPr>
              <a:t>Balanced Patient Population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5162"/>
            <a:ext cx="523875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The dashboard indicates a nearly perfectly balanced demographic split across the analyzed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4005262"/>
            <a:ext cx="5238750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Males represent 51% of the patient volume, while Females account for 49%. This suggests that ER utilization in this sector is not heavily skewed by gender-specific ailments, and general medical staffing is appropriately aligned.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50" b="1" i="0" u="none">
                <a:solidFill>
                  <a:srgbClr val="FFFFFF"/>
                </a:solidFill>
                <a:latin typeface="Space Grotesk"/>
              </a:rPr>
              <a:t>Gender-Wise </a:t>
            </a:r>
            <a:r>
              <a:rPr sz="3450" b="1" i="0" u="none">
                <a:solidFill>
                  <a:srgbClr val="38BDF8"/>
                </a:solidFill>
                <a:latin typeface="Space Grotesk"/>
              </a:rPr>
              <a:t>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66825"/>
            <a:ext cx="11049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5500687" cy="561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50" b="1" i="0" u="none">
                <a:solidFill>
                  <a:srgbClr val="FFFFFF"/>
                </a:solidFill>
                <a:latin typeface="Space Grotesk"/>
              </a:rPr>
              <a:t>Strategic </a:t>
            </a:r>
            <a:r>
              <a:rPr sz="3450" b="1" i="0" u="none">
                <a:solidFill>
                  <a:srgbClr val="38BDF8"/>
                </a:solidFill>
                <a:latin typeface="Space Grotesk"/>
              </a:rPr>
              <a:t>Action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66825"/>
            <a:ext cx="523875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0"/>
            <a:ext cx="581025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895475"/>
            <a:ext cx="550068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E5E7EB"/>
                </a:solidFill>
                <a:latin typeface="Space Grotesk"/>
              </a:rPr>
              <a:t>Data-Driven Interventions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381250"/>
            <a:ext cx="523875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Based on the visual dashboard analytics, we recommend the following immediate operational shifts: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3181350"/>
            <a:ext cx="4953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9CA3AF"/>
                </a:solidFill>
                <a:latin typeface="Outfit"/>
              </a:rPr>
              <a:t>Fast-Track Triage: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Implement a dedicated lane for the massive volume of "None/Unreferred" walk-ins to combat the 57% Delay 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38625"/>
            <a:ext cx="4953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9CA3AF"/>
                </a:solidFill>
                <a:latin typeface="Outfit"/>
              </a:rPr>
              <a:t>Specialized Staffing: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Align pediatric and geriatric nursing specialists to match the observed bimodal volume peaks.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991100"/>
            <a:ext cx="4953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9CA3AF"/>
                </a:solidFill>
                <a:latin typeface="Outfit"/>
              </a:rPr>
              <a:t>Admission Streamlining:</a:t>
            </a:r>
            <a:r>
              <a:rPr sz="1500" b="0" i="0" u="none">
                <a:solidFill>
                  <a:srgbClr val="9CA3AF"/>
                </a:solidFill>
                <a:latin typeface="Outfit"/>
              </a:rPr>
              <a:t> With 49% of patients requiring admission, expedite inpatient bed turnaround to clear ER space faster.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3181350"/>
            <a:ext cx="190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4238625"/>
            <a:ext cx="190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991100"/>
            <a:ext cx="190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F59E0B"/>
                </a:solidFill>
                <a:latin typeface="Outfit"/>
              </a:rPr>
              <a:t>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205287"/>
            <a:ext cx="11049000" cy="5143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2138362"/>
            <a:ext cx="11601450" cy="1095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0" b="1" i="0" u="none">
                <a:solidFill>
                  <a:srgbClr val="38BDF8"/>
                </a:solidFill>
                <a:latin typeface="Space Grotesk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424237"/>
            <a:ext cx="11049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9CA3AF"/>
                </a:solidFill>
                <a:latin typeface="Outfit"/>
              </a:rPr>
              <a:t>ER Dashboard Analytics &amp; Operational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655</Words>
  <Application>Microsoft Office PowerPoint</Application>
  <PresentationFormat>Widescreen</PresentationFormat>
  <Paragraphs>59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Outfit</vt:lpstr>
      <vt:lpstr>Outfit SemiBold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VIVEK KUM@R</dc:creator>
  <cp:keywords/>
  <dc:description>generated using python-pptx</dc:description>
  <cp:lastModifiedBy>VIVEK KUM@R</cp:lastModifiedBy>
  <cp:revision>2</cp:revision>
  <dcterms:created xsi:type="dcterms:W3CDTF">2013-01-27T09:14:16Z</dcterms:created>
  <dcterms:modified xsi:type="dcterms:W3CDTF">2026-08-31T16:37:20Z</dcterms:modified>
  <cp:category/>
</cp:coreProperties>
</file>