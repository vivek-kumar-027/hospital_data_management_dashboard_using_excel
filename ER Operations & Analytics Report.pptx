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21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2"/>
    <p:sldId id="273" r:id="rId23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5309" y="2567136"/>
            <a:ext cx="11041380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FFFFF"/>
                </a:solidFill>
                <a:latin typeface="Space Grotesk"/>
              </a:rPr>
              <a:t>Hospital ER </a:t>
            </a:r>
            <a:r>
              <a:rPr sz="5400" b="1" i="0" u="none">
                <a:solidFill>
                  <a:srgbClr val="F59E0B"/>
                </a:solidFill>
                <a:latin typeface="Space Grotesk"/>
              </a:rPr>
              <a:t>Operations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59522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D1D5DB"/>
                </a:solidFill>
                <a:latin typeface="Outfit"/>
              </a:rPr>
              <a:t>Comprehensive performance review of patient flow, triage efficiency, and demographic volume based on the 2023-2024 Dashboard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005012"/>
            <a:ext cx="11601450" cy="194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Space Grotesk"/>
              </a:rPr>
              <a:t>Project Overview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54818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Defining the scope and objectives of our ER data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66925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47875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Data-Driven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33650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This initiative leverages a comprehensive dataset of Emergency Room records to identify critical bottlenecks in patient care and operational throughput.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076450"/>
            <a:ext cx="5219700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638550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CA3AF"/>
                </a:solidFill>
                <a:latin typeface="Outfit"/>
              </a:rPr>
              <a:t>Dataset Scope: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Analyzing 952 distinct patient interactions from 2023-2024.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391025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CA3AF"/>
                </a:solidFill>
                <a:latin typeface="Outfit"/>
              </a:rPr>
              <a:t>Dashboard Filtering: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The current analytical view isolates </a:t>
            </a:r>
            <a:r>
              <a:rPr sz="1500" b="1" i="0" u="none">
                <a:solidFill>
                  <a:srgbClr val="9CA3AF"/>
                </a:solidFill>
                <a:latin typeface="Outfit"/>
              </a:rPr>
              <a:t>479 specific records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for targeted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5143500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CA3AF"/>
                </a:solidFill>
                <a:latin typeface="Outfit"/>
              </a:rPr>
              <a:t>Primary Goal: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Improve SLA compliance for wait times and elevate overall patient satisfaction scores.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38550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59E0B"/>
                </a:solidFill>
                <a:latin typeface="Outfit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39102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59E0B"/>
                </a:solidFill>
                <a:latin typeface="Outfi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143500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59E0B"/>
                </a:solidFill>
                <a:latin typeface="Outfi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Initiative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Background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85850"/>
            <a:ext cx="11049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5943600"/>
            <a:ext cx="8572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9CA3AF"/>
                </a:solidFill>
                <a:latin typeface="Outfit"/>
              </a:rPr>
              <a:t>Fig 1.0: Master ER Dashboard.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The interface aggregates key performance indicators, admission statuses, departmental referrals, and demographic distributions into a single, interactive pane of glass.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4" y="1247775"/>
            <a:ext cx="11913833" cy="424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Executive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Dashboard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6953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90787"/>
            <a:ext cx="116014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Space Grotesk"/>
              </a:rPr>
              <a:t>Core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062412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Evaluating the top-level Key Performance Indicators (KPIs).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76387"/>
            <a:ext cx="5238750" cy="1438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252787"/>
            <a:ext cx="5238750" cy="1438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929187"/>
            <a:ext cx="5238750" cy="1438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576387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Operational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06216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The dashboard isolates three primary metrics that define the current state of our emergency room efficiency based on the filtered selection.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167062"/>
            <a:ext cx="52387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While patient volume remains steady, the </a:t>
            </a:r>
            <a:r>
              <a:rPr sz="1500" b="1" i="0" u="none">
                <a:solidFill>
                  <a:srgbClr val="9CA3AF"/>
                </a:solidFill>
                <a:latin typeface="Outfit"/>
              </a:rPr>
              <a:t>Average Wait Time of nearly 35 minutes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exceeds standard target SLAs. Furthermore, the </a:t>
            </a:r>
            <a:r>
              <a:rPr sz="1500" b="1" i="0" u="none">
                <a:solidFill>
                  <a:srgbClr val="9CA3AF"/>
                </a:solidFill>
                <a:latin typeface="Outfit"/>
              </a:rPr>
              <a:t>Patient Satisfaction Score (5.30)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indicates average-to-poor patient sentiment, directly correlating with extended wait times in the triage queue.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725" y="2066925"/>
            <a:ext cx="5715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2325" y="3743325"/>
            <a:ext cx="3429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0875" y="5419725"/>
            <a:ext cx="51435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05600" y="1871662"/>
            <a:ext cx="1452562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479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2528887"/>
            <a:ext cx="145256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Outfit SemiBold"/>
              </a:rPr>
              <a:t>NO. OF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548062"/>
            <a:ext cx="1838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34.90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205287"/>
            <a:ext cx="1838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Outfit SemiBold"/>
              </a:rPr>
              <a:t>AVG. WAIT TIME (MIN)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5224462"/>
            <a:ext cx="2600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800" b="1" i="0" u="none">
                <a:solidFill>
                  <a:srgbClr val="FFFFFF"/>
                </a:solidFill>
                <a:latin typeface="Space Grotesk"/>
              </a:rPr>
              <a:t>5.30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5881687"/>
            <a:ext cx="2600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CA3AF"/>
                </a:solidFill>
                <a:latin typeface="Outfit SemiBold"/>
              </a:rPr>
              <a:t>PATIENT SATISFACTION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90537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Top-Level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KPI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85862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490787"/>
            <a:ext cx="116014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Space Grotesk"/>
              </a:rPr>
              <a:t>Patient Flow &amp;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062412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Analyzing SLA compliance, attendance status, and hospital admission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24075"/>
            <a:ext cx="11049000" cy="3695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2719387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Critical SLA Breach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320516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The visual analysis reveals a significant operational bottleneck: </a:t>
            </a:r>
            <a:r>
              <a:rPr sz="1500" b="1" i="0" u="none">
                <a:solidFill>
                  <a:srgbClr val="9CA3AF"/>
                </a:solidFill>
                <a:latin typeface="Outfit"/>
              </a:rPr>
              <a:t>57% of all patients (273 individuals) experienced a delay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, failing to meet the required triage time standards.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431006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This high volume of delayed care is the primary driver behind the low Patient Satisfaction score observed in the KPI overview. Restructuring the initial intake process is paramount.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Wait Time SLA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4587"/>
            <a:ext cx="11049000" cy="3114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414587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High Acuity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0036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The data shows an almost perfectly even split in admission outcomes, with </a:t>
            </a:r>
            <a:r>
              <a:rPr sz="1500" b="1" i="0" u="none">
                <a:solidFill>
                  <a:srgbClr val="9CA3AF"/>
                </a:solidFill>
                <a:latin typeface="Outfit"/>
              </a:rPr>
              <a:t>49% of ER visits (237 patients) resulting in a formal hospital admission.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05262"/>
            <a:ext cx="52387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This extremely high acuity rate requires extensive physician resources, diagnostic testing, and inpatient bed coordination. When inpatient beds are unavailable, these admitted patients board in the ER, severely restricting front-end throughput and exacerbating the 57% delay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Hospital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Admission Rates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005012"/>
            <a:ext cx="11601450" cy="194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Space Grotesk"/>
              </a:rPr>
              <a:t>Departmental &amp; Demographic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54818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Breaking down patient origins, age groups, and gender distributions.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5512"/>
            <a:ext cx="11049000" cy="3552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2566987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The Walk-In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305276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The referral data clearly illustrates that the vast majority of ER patients </a:t>
            </a:r>
            <a:r>
              <a:rPr sz="1500" b="1" i="0" u="none">
                <a:solidFill>
                  <a:srgbClr val="9CA3AF"/>
                </a:solidFill>
                <a:latin typeface="Outfit"/>
              </a:rPr>
              <a:t>(263 patients) arrived with "None"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(no prior departmental or GP referral).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415766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Unreferred, walk-in patients typically require more extensive initial diagnostics, administrative processing, and triage time compared to patients referred by a General Practice (115 patients). This directly impacts the triage queue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Department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Referral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57350"/>
            <a:ext cx="110490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Demographic Volume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(Age Groups)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24075"/>
            <a:ext cx="11049000" cy="3695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19387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Balanced Patient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05162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The dashboard indicates a nearly perfectly balanced demographic split across the analyzed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0526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Males represent 51% of the patient volume, while Females account for 49%. This suggests that ER utilization in this sector is not heavily skewed by gender-specific ailments, and general medical staffing is appropriately aligned.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Gender-Wise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2668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00687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50" b="1" i="0" u="none">
                <a:solidFill>
                  <a:srgbClr val="FFFFFF"/>
                </a:solidFill>
                <a:latin typeface="Space Grotesk"/>
              </a:rPr>
              <a:t>Strategic </a:t>
            </a:r>
            <a:r>
              <a:rPr sz="3450" b="1" i="0" u="none">
                <a:solidFill>
                  <a:srgbClr val="38BDF8"/>
                </a:solidFill>
                <a:latin typeface="Space Grotesk"/>
              </a:rPr>
              <a:t>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66825"/>
            <a:ext cx="52387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895475"/>
            <a:ext cx="550068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5E7EB"/>
                </a:solidFill>
                <a:latin typeface="Space Grotesk"/>
              </a:rPr>
              <a:t>Data-Driven Interventions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81250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Based on the visual dashboard analytics, we recommend the following immediate operational shifts: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181350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CA3AF"/>
                </a:solidFill>
                <a:latin typeface="Outfit"/>
              </a:rPr>
              <a:t>Fast-Track Triage: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Implement a dedicated lane for the massive volume of "None/Unreferred" walk-ins to combat the 57% Delay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238625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CA3AF"/>
                </a:solidFill>
                <a:latin typeface="Outfit"/>
              </a:rPr>
              <a:t>Specialized Staffing: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Align pediatric and geriatric nursing specialists to match the observed bimodal volume peaks.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991100"/>
            <a:ext cx="4953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9CA3AF"/>
                </a:solidFill>
                <a:latin typeface="Outfit"/>
              </a:rPr>
              <a:t>Admission Streamlining:</a:t>
            </a:r>
            <a:r>
              <a:rPr sz="1500" b="0" i="0" u="none">
                <a:solidFill>
                  <a:srgbClr val="9CA3AF"/>
                </a:solidFill>
                <a:latin typeface="Outfit"/>
              </a:rPr>
              <a:t> With 49% of patients requiring admission, expedite inpatient bed turnaround to clear ER space faster.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181350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59E0B"/>
                </a:solidFill>
                <a:latin typeface="Outfi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238625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59E0B"/>
                </a:solidFill>
                <a:latin typeface="Outfi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991100"/>
            <a:ext cx="190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F59E0B"/>
                </a:solidFill>
                <a:latin typeface="Outfit"/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5287"/>
            <a:ext cx="11049000" cy="51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138362"/>
            <a:ext cx="116014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38BDF8"/>
                </a:solidFill>
                <a:latin typeface="Space Grotes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24237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Outfit"/>
              </a:rPr>
              <a:t>ER Dashboard Analytics &amp; Operational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1"/>
          <p:cNvSpPr txBox="1"/>
          <p:nvPr/>
        </p:nvSpPr>
        <p:spPr>
          <a:xfrm>
            <a:off x="571500" y="49377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3450" b="1" i="0" u="none">
                <a:solidFill>
                  <a:srgbClr val="FFFFFF"/>
                </a:solidFill>
                <a:latin typeface="Space Grotesk"/>
              </a:rPr>
              <a:t>Problem </a:t>
            </a:r>
            <a:r>
              <a:rPr lang="en-US" sz="3450" b="1" i="0" u="none">
                <a:solidFill>
                  <a:srgbClr val="38BDF8"/>
                </a:solidFill>
                <a:latin typeface="Space Grotesk"/>
              </a:rPr>
              <a:t>Statement</a:t>
            </a:r>
          </a:p>
        </p:txBody>
      </p:sp>
      <p:sp>
        <p:nvSpPr>
          <p:cNvPr id="12" name="Rule 12"/>
          <p:cNvSpPr/>
          <p:nvPr/>
        </p:nvSpPr>
        <p:spPr>
          <a:xfrm>
            <a:off x="571500" y="1185977"/>
            <a:ext cx="11048695" cy="9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" name="Statement 13"/>
          <p:cNvSpPr txBox="1"/>
          <p:nvPr/>
        </p:nvSpPr>
        <p:spPr>
          <a:xfrm>
            <a:off x="571500" y="1417320"/>
            <a:ext cx="1104595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1800" b="1" i="0" u="none">
                <a:solidFill>
                  <a:srgbClr val="FFFFFF"/>
                </a:solidFill>
                <a:latin typeface="Space Grotesk"/>
              </a:rPr>
              <a:t>Over half of ER patients are seen late. </a:t>
            </a:r>
            <a:r>
              <a:rPr lang="en-US" sz="1800" b="0" i="0" u="none">
                <a:solidFill>
                  <a:srgbClr val="9CA3AF"/>
                </a:solidFill>
                <a:latin typeface="Outfit"/>
              </a:rPr>
              <a:t>Unreferred walk-ins and admitted patients boarding in the ER choke front-end throughput, leaving patient satisfaction at an average-to-poor 5.30.</a:t>
            </a:r>
          </a:p>
        </p:txBody>
      </p:sp>
      <p:sp>
        <p:nvSpPr>
          <p:cNvPr id="14" name="Card 14"/>
          <p:cNvSpPr/>
          <p:nvPr/>
        </p:nvSpPr>
        <p:spPr>
          <a:xfrm>
            <a:off x="571500" y="260604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5" name="Stat 15"/>
          <p:cNvSpPr txBox="1"/>
          <p:nvPr/>
        </p:nvSpPr>
        <p:spPr>
          <a:xfrm>
            <a:off x="800100" y="278892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u="none">
                <a:solidFill>
                  <a:srgbClr val="F59E0B"/>
                </a:solidFill>
                <a:latin typeface="Space Grotesk"/>
              </a:rPr>
              <a:t>57%</a:t>
            </a:r>
          </a:p>
        </p:txBody>
      </p:sp>
      <p:sp>
        <p:nvSpPr>
          <p:cNvPr id="16" name="Label 16"/>
          <p:cNvSpPr txBox="1"/>
          <p:nvPr/>
        </p:nvSpPr>
        <p:spPr>
          <a:xfrm>
            <a:off x="800100" y="37490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PATIENTS DELAYED</a:t>
            </a:r>
          </a:p>
        </p:txBody>
      </p:sp>
      <p:sp>
        <p:nvSpPr>
          <p:cNvPr id="17" name="Desc 17"/>
          <p:cNvSpPr txBox="1"/>
          <p:nvPr/>
        </p:nvSpPr>
        <p:spPr>
          <a:xfrm>
            <a:off x="800100" y="4206240"/>
            <a:ext cx="214884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273 of 479 patients missed the triage time standard; average wait is 34.9 min.</a:t>
            </a:r>
          </a:p>
        </p:txBody>
      </p:sp>
      <p:sp>
        <p:nvSpPr>
          <p:cNvPr id="18" name="Card 18"/>
          <p:cNvSpPr/>
          <p:nvPr/>
        </p:nvSpPr>
        <p:spPr>
          <a:xfrm>
            <a:off x="3385109" y="260604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9" name="Stat 19"/>
          <p:cNvSpPr txBox="1"/>
          <p:nvPr/>
        </p:nvSpPr>
        <p:spPr>
          <a:xfrm>
            <a:off x="3613709" y="278892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u="none">
                <a:solidFill>
                  <a:srgbClr val="38BDF8"/>
                </a:solidFill>
                <a:latin typeface="Space Grotesk"/>
              </a:rPr>
              <a:t>55%</a:t>
            </a:r>
          </a:p>
        </p:txBody>
      </p:sp>
      <p:sp>
        <p:nvSpPr>
          <p:cNvPr id="20" name="Label 20"/>
          <p:cNvSpPr txBox="1"/>
          <p:nvPr/>
        </p:nvSpPr>
        <p:spPr>
          <a:xfrm>
            <a:off x="3613709" y="37490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UNREFERRED WALK-INS</a:t>
            </a:r>
          </a:p>
        </p:txBody>
      </p:sp>
      <p:sp>
        <p:nvSpPr>
          <p:cNvPr id="21" name="Desc 21"/>
          <p:cNvSpPr txBox="1"/>
          <p:nvPr/>
        </p:nvSpPr>
        <p:spPr>
          <a:xfrm>
            <a:off x="3613709" y="4206240"/>
            <a:ext cx="214884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263 patients arrived with no referral and need longer diagnostics and triage.</a:t>
            </a:r>
          </a:p>
        </p:txBody>
      </p:sp>
      <p:sp>
        <p:nvSpPr>
          <p:cNvPr id="22" name="Card 22"/>
          <p:cNvSpPr/>
          <p:nvPr/>
        </p:nvSpPr>
        <p:spPr>
          <a:xfrm>
            <a:off x="6198718" y="260604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3" name="Stat 23"/>
          <p:cNvSpPr txBox="1"/>
          <p:nvPr/>
        </p:nvSpPr>
        <p:spPr>
          <a:xfrm>
            <a:off x="6427318" y="278892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u="none">
                <a:solidFill>
                  <a:srgbClr val="38BDF8"/>
                </a:solidFill>
                <a:latin typeface="Space Grotesk"/>
              </a:rPr>
              <a:t>49%</a:t>
            </a:r>
          </a:p>
        </p:txBody>
      </p:sp>
      <p:sp>
        <p:nvSpPr>
          <p:cNvPr id="24" name="Label 24"/>
          <p:cNvSpPr txBox="1"/>
          <p:nvPr/>
        </p:nvSpPr>
        <p:spPr>
          <a:xfrm>
            <a:off x="6427318" y="37490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ADMITTED FROM THE ER</a:t>
            </a:r>
          </a:p>
        </p:txBody>
      </p:sp>
      <p:sp>
        <p:nvSpPr>
          <p:cNvPr id="25" name="Desc 25"/>
          <p:cNvSpPr txBox="1"/>
          <p:nvPr/>
        </p:nvSpPr>
        <p:spPr>
          <a:xfrm>
            <a:off x="6427318" y="4206240"/>
            <a:ext cx="214884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237 patients need inpatient beds; when none are free they board in the ER.</a:t>
            </a:r>
          </a:p>
        </p:txBody>
      </p:sp>
      <p:sp>
        <p:nvSpPr>
          <p:cNvPr id="26" name="Card 26"/>
          <p:cNvSpPr/>
          <p:nvPr/>
        </p:nvSpPr>
        <p:spPr>
          <a:xfrm>
            <a:off x="9012326" y="2606040"/>
            <a:ext cx="2606040" cy="30175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7" name="Stat 27"/>
          <p:cNvSpPr txBox="1"/>
          <p:nvPr/>
        </p:nvSpPr>
        <p:spPr>
          <a:xfrm>
            <a:off x="9240926" y="2788920"/>
            <a:ext cx="21488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4800" b="1" i="0" u="none">
                <a:solidFill>
                  <a:srgbClr val="F59E0B"/>
                </a:solidFill>
                <a:latin typeface="Space Grotesk"/>
              </a:rPr>
              <a:t>5.30</a:t>
            </a:r>
          </a:p>
        </p:txBody>
      </p:sp>
      <p:sp>
        <p:nvSpPr>
          <p:cNvPr id="28" name="Label 28"/>
          <p:cNvSpPr txBox="1"/>
          <p:nvPr/>
        </p:nvSpPr>
        <p:spPr>
          <a:xfrm>
            <a:off x="9240926" y="37490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SATISFACTION SCORE</a:t>
            </a:r>
          </a:p>
        </p:txBody>
      </p:sp>
      <p:sp>
        <p:nvSpPr>
          <p:cNvPr id="29" name="Desc 29"/>
          <p:cNvSpPr txBox="1"/>
          <p:nvPr/>
        </p:nvSpPr>
        <p:spPr>
          <a:xfrm>
            <a:off x="9240926" y="4206240"/>
            <a:ext cx="214884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Sentiment tracks the long triage queue and is below an acceptable level.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1"/>
          <p:cNvSpPr txBox="1"/>
          <p:nvPr/>
        </p:nvSpPr>
        <p:spPr>
          <a:xfrm>
            <a:off x="571500" y="49377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3450" b="1" i="0" u="none">
                <a:solidFill>
                  <a:srgbClr val="FFFFFF"/>
                </a:solidFill>
                <a:latin typeface="Space Grotesk"/>
              </a:rPr>
              <a:t>Problems &amp; </a:t>
            </a:r>
            <a:r>
              <a:rPr lang="en-US" sz="3450" b="1" i="0" u="none">
                <a:solidFill>
                  <a:srgbClr val="38BDF8"/>
                </a:solidFill>
                <a:latin typeface="Space Grotesk"/>
              </a:rPr>
              <a:t>Proposed Solutions</a:t>
            </a:r>
          </a:p>
        </p:txBody>
      </p:sp>
      <p:sp>
        <p:nvSpPr>
          <p:cNvPr id="12" name="Rule 12"/>
          <p:cNvSpPr/>
          <p:nvPr/>
        </p:nvSpPr>
        <p:spPr>
          <a:xfrm>
            <a:off x="571500" y="1185977"/>
            <a:ext cx="11048695" cy="9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" name="Card 13"/>
          <p:cNvSpPr/>
          <p:nvPr/>
        </p:nvSpPr>
        <p:spPr>
          <a:xfrm>
            <a:off x="571500" y="146304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4" name="Problem 14"/>
          <p:cNvSpPr txBox="1"/>
          <p:nvPr/>
        </p:nvSpPr>
        <p:spPr>
          <a:xfrm>
            <a:off x="777240" y="160020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F59E0B"/>
                </a:solidFill>
                <a:latin typeface="Space Grotesk"/>
              </a:rPr>
              <a:t>Triage delays</a:t>
            </a:r>
          </a:p>
        </p:txBody>
      </p:sp>
      <p:sp>
        <p:nvSpPr>
          <p:cNvPr id="15" name="ProblemDesc 15"/>
          <p:cNvSpPr txBox="1"/>
          <p:nvPr/>
        </p:nvSpPr>
        <p:spPr>
          <a:xfrm>
            <a:off x="777240" y="199339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57% of patients (273) miss the triage standard</a:t>
            </a:r>
          </a:p>
        </p:txBody>
      </p:sp>
      <p:sp>
        <p:nvSpPr>
          <p:cNvPr id="16" name="Arrow 16"/>
          <p:cNvSpPr txBox="1"/>
          <p:nvPr/>
        </p:nvSpPr>
        <p:spPr>
          <a:xfrm>
            <a:off x="5760720" y="1783080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3000" b="1" i="0" u="none">
                <a:solidFill>
                  <a:srgbClr val="38BDF8"/>
                </a:solidFill>
                <a:latin typeface="Outfit"/>
              </a:rPr>
              <a:t>→</a:t>
            </a:r>
          </a:p>
        </p:txBody>
      </p:sp>
      <p:sp>
        <p:nvSpPr>
          <p:cNvPr id="17" name="Card 17"/>
          <p:cNvSpPr/>
          <p:nvPr/>
        </p:nvSpPr>
        <p:spPr>
          <a:xfrm>
            <a:off x="6583680" y="146304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Solution 18"/>
          <p:cNvSpPr txBox="1"/>
          <p:nvPr/>
        </p:nvSpPr>
        <p:spPr>
          <a:xfrm>
            <a:off x="6812280" y="160020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38BDF8"/>
                </a:solidFill>
                <a:latin typeface="Space Grotesk"/>
              </a:rPr>
              <a:t>Fast-track triage lane</a:t>
            </a:r>
          </a:p>
        </p:txBody>
      </p:sp>
      <p:sp>
        <p:nvSpPr>
          <p:cNvPr id="19" name="SolutionDesc 19"/>
          <p:cNvSpPr txBox="1"/>
          <p:nvPr/>
        </p:nvSpPr>
        <p:spPr>
          <a:xfrm>
            <a:off x="6812280" y="199339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Nurse-led pre-triage at the door; split low-acuity from urgent cases</a:t>
            </a:r>
          </a:p>
        </p:txBody>
      </p:sp>
      <p:sp>
        <p:nvSpPr>
          <p:cNvPr id="20" name="Card 20"/>
          <p:cNvSpPr/>
          <p:nvPr/>
        </p:nvSpPr>
        <p:spPr>
          <a:xfrm>
            <a:off x="571500" y="269748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1" name="Problem 21"/>
          <p:cNvSpPr txBox="1"/>
          <p:nvPr/>
        </p:nvSpPr>
        <p:spPr>
          <a:xfrm>
            <a:off x="777240" y="28346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F59E0B"/>
                </a:solidFill>
                <a:latin typeface="Space Grotesk"/>
              </a:rPr>
              <a:t>Walk-in burden</a:t>
            </a:r>
          </a:p>
        </p:txBody>
      </p:sp>
      <p:sp>
        <p:nvSpPr>
          <p:cNvPr id="22" name="ProblemDesc 22"/>
          <p:cNvSpPr txBox="1"/>
          <p:nvPr/>
        </p:nvSpPr>
        <p:spPr>
          <a:xfrm>
            <a:off x="777240" y="322783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263 patients arrive with no referral</a:t>
            </a:r>
          </a:p>
        </p:txBody>
      </p:sp>
      <p:sp>
        <p:nvSpPr>
          <p:cNvPr id="23" name="Arrow 23"/>
          <p:cNvSpPr txBox="1"/>
          <p:nvPr/>
        </p:nvSpPr>
        <p:spPr>
          <a:xfrm>
            <a:off x="5760720" y="3017520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3000" b="1" i="0" u="none">
                <a:solidFill>
                  <a:srgbClr val="38BDF8"/>
                </a:solidFill>
                <a:latin typeface="Outfit"/>
              </a:rPr>
              <a:t>→</a:t>
            </a:r>
          </a:p>
        </p:txBody>
      </p:sp>
      <p:sp>
        <p:nvSpPr>
          <p:cNvPr id="24" name="Card 24"/>
          <p:cNvSpPr/>
          <p:nvPr/>
        </p:nvSpPr>
        <p:spPr>
          <a:xfrm>
            <a:off x="6583680" y="269748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5" name="Solution 25"/>
          <p:cNvSpPr txBox="1"/>
          <p:nvPr/>
        </p:nvSpPr>
        <p:spPr>
          <a:xfrm>
            <a:off x="6812280" y="28346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38BDF8"/>
                </a:solidFill>
                <a:latin typeface="Space Grotesk"/>
              </a:rPr>
              <a:t>Walk-in intake desk</a:t>
            </a:r>
          </a:p>
        </p:txBody>
      </p:sp>
      <p:sp>
        <p:nvSpPr>
          <p:cNvPr id="26" name="SolutionDesc 26"/>
          <p:cNvSpPr txBox="1"/>
          <p:nvPr/>
        </p:nvSpPr>
        <p:spPr>
          <a:xfrm>
            <a:off x="6812280" y="322783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Digital pre-registration and GP/urgent-care redirect for low-acuity cases</a:t>
            </a:r>
          </a:p>
        </p:txBody>
      </p:sp>
      <p:sp>
        <p:nvSpPr>
          <p:cNvPr id="27" name="Card 27"/>
          <p:cNvSpPr/>
          <p:nvPr/>
        </p:nvSpPr>
        <p:spPr>
          <a:xfrm>
            <a:off x="571500" y="393192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8" name="Problem 28"/>
          <p:cNvSpPr txBox="1"/>
          <p:nvPr/>
        </p:nvSpPr>
        <p:spPr>
          <a:xfrm>
            <a:off x="777240" y="406908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F59E0B"/>
                </a:solidFill>
                <a:latin typeface="Space Grotesk"/>
              </a:rPr>
              <a:t>ER boarding</a:t>
            </a:r>
          </a:p>
        </p:txBody>
      </p:sp>
      <p:sp>
        <p:nvSpPr>
          <p:cNvPr id="29" name="ProblemDesc 29"/>
          <p:cNvSpPr txBox="1"/>
          <p:nvPr/>
        </p:nvSpPr>
        <p:spPr>
          <a:xfrm>
            <a:off x="777240" y="446227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49% (237) admitted, waiting on inpatient beds</a:t>
            </a:r>
          </a:p>
        </p:txBody>
      </p:sp>
      <p:sp>
        <p:nvSpPr>
          <p:cNvPr id="30" name="Arrow 30"/>
          <p:cNvSpPr txBox="1"/>
          <p:nvPr/>
        </p:nvSpPr>
        <p:spPr>
          <a:xfrm>
            <a:off x="5760720" y="4251960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3000" b="1" i="0" u="none">
                <a:solidFill>
                  <a:srgbClr val="38BDF8"/>
                </a:solidFill>
                <a:latin typeface="Outfit"/>
              </a:rPr>
              <a:t>→</a:t>
            </a:r>
          </a:p>
        </p:txBody>
      </p:sp>
      <p:sp>
        <p:nvSpPr>
          <p:cNvPr id="31" name="Card 31"/>
          <p:cNvSpPr/>
          <p:nvPr/>
        </p:nvSpPr>
        <p:spPr>
          <a:xfrm>
            <a:off x="6583680" y="393192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2" name="Solution 32"/>
          <p:cNvSpPr txBox="1"/>
          <p:nvPr/>
        </p:nvSpPr>
        <p:spPr>
          <a:xfrm>
            <a:off x="6812280" y="406908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38BDF8"/>
                </a:solidFill>
                <a:latin typeface="Space Grotesk"/>
              </a:rPr>
              <a:t>Bed-flow management</a:t>
            </a:r>
          </a:p>
        </p:txBody>
      </p:sp>
      <p:sp>
        <p:nvSpPr>
          <p:cNvPr id="33" name="SolutionDesc 33"/>
          <p:cNvSpPr txBox="1"/>
          <p:nvPr/>
        </p:nvSpPr>
        <p:spPr>
          <a:xfrm>
            <a:off x="6812280" y="446227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Daily bed huddles, earlier discharges, a dedicated admission-holding area</a:t>
            </a:r>
          </a:p>
        </p:txBody>
      </p:sp>
      <p:sp>
        <p:nvSpPr>
          <p:cNvPr id="34" name="Card 34"/>
          <p:cNvSpPr/>
          <p:nvPr/>
        </p:nvSpPr>
        <p:spPr>
          <a:xfrm>
            <a:off x="571500" y="516636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5" name="Problem 35"/>
          <p:cNvSpPr txBox="1"/>
          <p:nvPr/>
        </p:nvSpPr>
        <p:spPr>
          <a:xfrm>
            <a:off x="777240" y="530352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F59E0B"/>
                </a:solidFill>
                <a:latin typeface="Space Grotesk"/>
              </a:rPr>
              <a:t>Demand peaks</a:t>
            </a:r>
          </a:p>
        </p:txBody>
      </p:sp>
      <p:sp>
        <p:nvSpPr>
          <p:cNvPr id="36" name="ProblemDesc 36"/>
          <p:cNvSpPr txBox="1"/>
          <p:nvPr/>
        </p:nvSpPr>
        <p:spPr>
          <a:xfrm>
            <a:off x="777240" y="569671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Volume peaks at ages 0-9 (70) and 60-69 (71)</a:t>
            </a:r>
          </a:p>
        </p:txBody>
      </p:sp>
      <p:sp>
        <p:nvSpPr>
          <p:cNvPr id="37" name="Arrow 37"/>
          <p:cNvSpPr txBox="1"/>
          <p:nvPr/>
        </p:nvSpPr>
        <p:spPr>
          <a:xfrm>
            <a:off x="5760720" y="5486400"/>
            <a:ext cx="66751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3000" b="1" i="0" u="none">
                <a:solidFill>
                  <a:srgbClr val="38BDF8"/>
                </a:solidFill>
                <a:latin typeface="Outfit"/>
              </a:rPr>
              <a:t>→</a:t>
            </a:r>
          </a:p>
        </p:txBody>
      </p:sp>
      <p:sp>
        <p:nvSpPr>
          <p:cNvPr id="38" name="Card 38"/>
          <p:cNvSpPr/>
          <p:nvPr/>
        </p:nvSpPr>
        <p:spPr>
          <a:xfrm>
            <a:off x="6583680" y="516636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9" name="Solution 39"/>
          <p:cNvSpPr txBox="1"/>
          <p:nvPr/>
        </p:nvSpPr>
        <p:spPr>
          <a:xfrm>
            <a:off x="6812280" y="530352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700" b="1" i="0" u="none">
                <a:solidFill>
                  <a:srgbClr val="38BDF8"/>
                </a:solidFill>
                <a:latin typeface="Space Grotesk"/>
              </a:rPr>
              <a:t>Specialist staffing</a:t>
            </a:r>
          </a:p>
        </p:txBody>
      </p:sp>
      <p:sp>
        <p:nvSpPr>
          <p:cNvPr id="40" name="SolutionDesc 40"/>
          <p:cNvSpPr txBox="1"/>
          <p:nvPr/>
        </p:nvSpPr>
        <p:spPr>
          <a:xfrm>
            <a:off x="6812280" y="5696712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Roster pediatric and geriatric nurses to match peak demand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1"/>
          <p:cNvSpPr txBox="1"/>
          <p:nvPr/>
        </p:nvSpPr>
        <p:spPr>
          <a:xfrm>
            <a:off x="571500" y="49377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3450" b="1" i="0" u="none">
                <a:solidFill>
                  <a:srgbClr val="FFFFFF"/>
                </a:solidFill>
                <a:latin typeface="Space Grotesk"/>
              </a:rPr>
              <a:t>Expected </a:t>
            </a:r>
            <a:r>
              <a:rPr lang="en-US" sz="3450" b="1" i="0" u="none">
                <a:solidFill>
                  <a:srgbClr val="38BDF8"/>
                </a:solidFill>
                <a:latin typeface="Space Grotesk"/>
              </a:rPr>
              <a:t>Impact &amp; Next Steps</a:t>
            </a:r>
          </a:p>
        </p:txBody>
      </p:sp>
      <p:sp>
        <p:nvSpPr>
          <p:cNvPr id="12" name="Rule 12"/>
          <p:cNvSpPr/>
          <p:nvPr/>
        </p:nvSpPr>
        <p:spPr>
          <a:xfrm>
            <a:off x="571500" y="1185977"/>
            <a:ext cx="11048695" cy="9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3" name="Card 13"/>
          <p:cNvSpPr/>
          <p:nvPr/>
        </p:nvSpPr>
        <p:spPr>
          <a:xfrm>
            <a:off x="571500" y="1463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4" name="Label 14"/>
          <p:cNvSpPr txBox="1"/>
          <p:nvPr/>
        </p:nvSpPr>
        <p:spPr>
          <a:xfrm>
            <a:off x="800100" y="1600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PATIENTS DELAYED</a:t>
            </a:r>
          </a:p>
        </p:txBody>
      </p:sp>
      <p:sp>
        <p:nvSpPr>
          <p:cNvPr id="15" name="Stat 15"/>
          <p:cNvSpPr txBox="1"/>
          <p:nvPr/>
        </p:nvSpPr>
        <p:spPr>
          <a:xfrm>
            <a:off x="800100" y="21031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u="none">
                <a:solidFill>
                  <a:srgbClr val="9CA3AF"/>
                </a:solidFill>
                <a:latin typeface="Space Grotesk"/>
              </a:rPr>
              <a:t>57%</a:t>
            </a:r>
            <a:r>
              <a:rPr lang="en-US" sz="2000" b="1" i="0" u="none">
                <a:solidFill>
                  <a:srgbClr val="38BDF8"/>
                </a:solidFill>
                <a:latin typeface="Outfit"/>
              </a:rPr>
              <a:t>  →  </a:t>
            </a:r>
            <a:r>
              <a:rPr lang="en-US" sz="2600" b="1" i="0" u="none">
                <a:solidFill>
                  <a:srgbClr val="38BDF8"/>
                </a:solidFill>
                <a:latin typeface="Space Grotesk"/>
              </a:rPr>
              <a:t>&lt; 30%</a:t>
            </a:r>
          </a:p>
        </p:txBody>
      </p:sp>
      <p:sp>
        <p:nvSpPr>
          <p:cNvPr id="16" name="Cap 16"/>
          <p:cNvSpPr txBox="1"/>
          <p:nvPr/>
        </p:nvSpPr>
        <p:spPr>
          <a:xfrm>
            <a:off x="800100" y="28803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300" b="0" i="0" u="none">
                <a:solidFill>
                  <a:srgbClr val="9CA3AF"/>
                </a:solidFill>
                <a:latin typeface="Outfit"/>
              </a:rPr>
              <a:t>Current → proposed target</a:t>
            </a:r>
          </a:p>
        </p:txBody>
      </p:sp>
      <p:sp>
        <p:nvSpPr>
          <p:cNvPr id="17" name="Card 17"/>
          <p:cNvSpPr/>
          <p:nvPr/>
        </p:nvSpPr>
        <p:spPr>
          <a:xfrm>
            <a:off x="4334256" y="1463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18" name="Label 18"/>
          <p:cNvSpPr txBox="1"/>
          <p:nvPr/>
        </p:nvSpPr>
        <p:spPr>
          <a:xfrm>
            <a:off x="4562856" y="1600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AVG. WAIT TIME (MIN)</a:t>
            </a:r>
          </a:p>
        </p:txBody>
      </p:sp>
      <p:sp>
        <p:nvSpPr>
          <p:cNvPr id="19" name="Stat 19"/>
          <p:cNvSpPr txBox="1"/>
          <p:nvPr/>
        </p:nvSpPr>
        <p:spPr>
          <a:xfrm>
            <a:off x="4562856" y="21031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u="none">
                <a:solidFill>
                  <a:srgbClr val="9CA3AF"/>
                </a:solidFill>
                <a:latin typeface="Space Grotesk"/>
              </a:rPr>
              <a:t>34.9</a:t>
            </a:r>
            <a:r>
              <a:rPr lang="en-US" sz="2000" b="1" i="0" u="none">
                <a:solidFill>
                  <a:srgbClr val="38BDF8"/>
                </a:solidFill>
                <a:latin typeface="Outfit"/>
              </a:rPr>
              <a:t>  →  </a:t>
            </a:r>
            <a:r>
              <a:rPr lang="en-US" sz="2600" b="1" i="0" u="none">
                <a:solidFill>
                  <a:srgbClr val="38BDF8"/>
                </a:solidFill>
                <a:latin typeface="Space Grotesk"/>
              </a:rPr>
              <a:t>≤ 25</a:t>
            </a:r>
          </a:p>
        </p:txBody>
      </p:sp>
      <p:sp>
        <p:nvSpPr>
          <p:cNvPr id="20" name="Cap 20"/>
          <p:cNvSpPr txBox="1"/>
          <p:nvPr/>
        </p:nvSpPr>
        <p:spPr>
          <a:xfrm>
            <a:off x="4562856" y="28803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300" b="0" i="0" u="none">
                <a:solidFill>
                  <a:srgbClr val="9CA3AF"/>
                </a:solidFill>
                <a:latin typeface="Outfit"/>
              </a:rPr>
              <a:t>Current → proposed target</a:t>
            </a:r>
          </a:p>
        </p:txBody>
      </p:sp>
      <p:sp>
        <p:nvSpPr>
          <p:cNvPr id="21" name="Card 21"/>
          <p:cNvSpPr/>
          <p:nvPr/>
        </p:nvSpPr>
        <p:spPr>
          <a:xfrm>
            <a:off x="8097012" y="146304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2" name="Label 22"/>
          <p:cNvSpPr txBox="1"/>
          <p:nvPr/>
        </p:nvSpPr>
        <p:spPr>
          <a:xfrm>
            <a:off x="8325612" y="1600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E5E7EB"/>
                </a:solidFill>
                <a:latin typeface="Outfit"/>
              </a:rPr>
              <a:t>SATISFACTION SCORE</a:t>
            </a:r>
          </a:p>
        </p:txBody>
      </p:sp>
      <p:sp>
        <p:nvSpPr>
          <p:cNvPr id="23" name="Stat 23"/>
          <p:cNvSpPr txBox="1"/>
          <p:nvPr/>
        </p:nvSpPr>
        <p:spPr>
          <a:xfrm>
            <a:off x="8325612" y="21031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2600" b="1" i="0" u="none">
                <a:solidFill>
                  <a:srgbClr val="9CA3AF"/>
                </a:solidFill>
                <a:latin typeface="Space Grotesk"/>
              </a:rPr>
              <a:t>5.30</a:t>
            </a:r>
            <a:r>
              <a:rPr lang="en-US" sz="2000" b="1" i="0" u="none">
                <a:solidFill>
                  <a:srgbClr val="38BDF8"/>
                </a:solidFill>
                <a:latin typeface="Outfit"/>
              </a:rPr>
              <a:t>  →  </a:t>
            </a:r>
            <a:r>
              <a:rPr lang="en-US" sz="2600" b="1" i="0" u="none">
                <a:solidFill>
                  <a:srgbClr val="38BDF8"/>
                </a:solidFill>
                <a:latin typeface="Space Grotesk"/>
              </a:rPr>
              <a:t>≥ 7.0</a:t>
            </a:r>
          </a:p>
        </p:txBody>
      </p:sp>
      <p:sp>
        <p:nvSpPr>
          <p:cNvPr id="24" name="Cap 24"/>
          <p:cNvSpPr txBox="1"/>
          <p:nvPr/>
        </p:nvSpPr>
        <p:spPr>
          <a:xfrm>
            <a:off x="8325612" y="288036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300" b="0" i="0" u="none">
                <a:solidFill>
                  <a:srgbClr val="9CA3AF"/>
                </a:solidFill>
                <a:latin typeface="Outfit"/>
              </a:rPr>
              <a:t>Current → proposed target</a:t>
            </a:r>
          </a:p>
        </p:txBody>
      </p:sp>
      <p:sp>
        <p:nvSpPr>
          <p:cNvPr id="25" name="Card 25"/>
          <p:cNvSpPr/>
          <p:nvPr/>
        </p:nvSpPr>
        <p:spPr>
          <a:xfrm>
            <a:off x="571500" y="38404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26" name="Phase 26"/>
          <p:cNvSpPr txBox="1"/>
          <p:nvPr/>
        </p:nvSpPr>
        <p:spPr>
          <a:xfrm>
            <a:off x="800100" y="39776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38BDF8"/>
                </a:solidFill>
                <a:latin typeface="Outfit"/>
              </a:rPr>
              <a:t>WEEKS 1-4</a:t>
            </a:r>
          </a:p>
        </p:txBody>
      </p:sp>
      <p:sp>
        <p:nvSpPr>
          <p:cNvPr id="27" name="PhaseTitle 27"/>
          <p:cNvSpPr txBox="1"/>
          <p:nvPr/>
        </p:nvSpPr>
        <p:spPr>
          <a:xfrm>
            <a:off x="800100" y="434340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800" b="1" i="0" u="none">
                <a:solidFill>
                  <a:srgbClr val="FFFFFF"/>
                </a:solidFill>
                <a:latin typeface="Space Grotesk"/>
              </a:rPr>
              <a:t>Launch quick wins</a:t>
            </a:r>
          </a:p>
        </p:txBody>
      </p:sp>
      <p:sp>
        <p:nvSpPr>
          <p:cNvPr id="28" name="PhaseDesc 28"/>
          <p:cNvSpPr txBox="1"/>
          <p:nvPr/>
        </p:nvSpPr>
        <p:spPr>
          <a:xfrm>
            <a:off x="800100" y="48463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Open the fast-track lane and walk-in desk; start daily bed huddles.</a:t>
            </a:r>
          </a:p>
        </p:txBody>
      </p:sp>
      <p:sp>
        <p:nvSpPr>
          <p:cNvPr id="29" name="Card 29"/>
          <p:cNvSpPr/>
          <p:nvPr/>
        </p:nvSpPr>
        <p:spPr>
          <a:xfrm>
            <a:off x="4334256" y="38404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0" name="Phase 30"/>
          <p:cNvSpPr txBox="1"/>
          <p:nvPr/>
        </p:nvSpPr>
        <p:spPr>
          <a:xfrm>
            <a:off x="4562856" y="39776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38BDF8"/>
                </a:solidFill>
                <a:latin typeface="Outfit"/>
              </a:rPr>
              <a:t>MONTHS 2-3</a:t>
            </a:r>
          </a:p>
        </p:txBody>
      </p:sp>
      <p:sp>
        <p:nvSpPr>
          <p:cNvPr id="31" name="PhaseTitle 31"/>
          <p:cNvSpPr txBox="1"/>
          <p:nvPr/>
        </p:nvSpPr>
        <p:spPr>
          <a:xfrm>
            <a:off x="4562856" y="434340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800" b="1" i="0" u="none">
                <a:solidFill>
                  <a:srgbClr val="FFFFFF"/>
                </a:solidFill>
                <a:latin typeface="Space Grotesk"/>
              </a:rPr>
              <a:t>Align capacity</a:t>
            </a:r>
          </a:p>
        </p:txBody>
      </p:sp>
      <p:sp>
        <p:nvSpPr>
          <p:cNvPr id="32" name="PhaseDesc 32"/>
          <p:cNvSpPr txBox="1"/>
          <p:nvPr/>
        </p:nvSpPr>
        <p:spPr>
          <a:xfrm>
            <a:off x="4562856" y="48463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Adjust pediatric and geriatric rosters; add digital pre-registration.</a:t>
            </a:r>
          </a:p>
        </p:txBody>
      </p:sp>
      <p:sp>
        <p:nvSpPr>
          <p:cNvPr id="33" name="Card 33"/>
          <p:cNvSpPr/>
          <p:nvPr/>
        </p:nvSpPr>
        <p:spPr>
          <a:xfrm>
            <a:off x="8097012" y="38404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9525">
            <a:solidFill>
              <a:srgbClr val="1F2937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n-US"/>
          </a:p>
        </p:txBody>
      </p:sp>
      <p:sp>
        <p:nvSpPr>
          <p:cNvPr id="34" name="Phase 34"/>
          <p:cNvSpPr txBox="1"/>
          <p:nvPr/>
        </p:nvSpPr>
        <p:spPr>
          <a:xfrm>
            <a:off x="8325612" y="397764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200" b="1" i="0" u="none">
                <a:solidFill>
                  <a:srgbClr val="38BDF8"/>
                </a:solidFill>
                <a:latin typeface="Outfit"/>
              </a:rPr>
              <a:t>MONTH 4+</a:t>
            </a:r>
          </a:p>
        </p:txBody>
      </p:sp>
      <p:sp>
        <p:nvSpPr>
          <p:cNvPr id="35" name="PhaseTitle 35"/>
          <p:cNvSpPr txBox="1"/>
          <p:nvPr/>
        </p:nvSpPr>
        <p:spPr>
          <a:xfrm>
            <a:off x="8325612" y="434340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800" b="1" i="0" u="none">
                <a:solidFill>
                  <a:srgbClr val="FFFFFF"/>
                </a:solidFill>
                <a:latin typeface="Space Grotesk"/>
              </a:rPr>
              <a:t>Measure and refine</a:t>
            </a:r>
          </a:p>
        </p:txBody>
      </p:sp>
      <p:sp>
        <p:nvSpPr>
          <p:cNvPr id="36" name="PhaseDesc 36"/>
          <p:cNvSpPr txBox="1"/>
          <p:nvPr/>
        </p:nvSpPr>
        <p:spPr>
          <a:xfrm>
            <a:off x="8325612" y="4846320"/>
            <a:ext cx="3063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lang="en-US" sz="1400" b="0" i="0" u="none">
                <a:solidFill>
                  <a:srgbClr val="9CA3AF"/>
                </a:solidFill>
                <a:latin typeface="Outfit"/>
              </a:rPr>
              <a:t>Track delay %, wait time and satisfaction on the dashboard monthly.</a:t>
            </a:r>
          </a:p>
        </p:txBody>
      </p:sp>
      <p:sp>
        <p:nvSpPr>
          <p:cNvPr id="37" name="Note 37"/>
          <p:cNvSpPr txBox="1"/>
          <p:nvPr/>
        </p:nvSpPr>
        <p:spPr>
          <a:xfrm>
            <a:off x="571500" y="62179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100" b="0" i="1" u="none">
                <a:solidFill>
                  <a:srgbClr val="9CA3AF"/>
                </a:solidFill>
                <a:latin typeface="Outfit"/>
              </a:rPr>
              <a:t>Targets are proposed goals for discussion with ER leadership, not forecasts.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655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Outfit</vt:lpstr>
      <vt:lpstr>Outfit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VIVEK KUM@R</dc:creator>
  <cp:keywords/>
  <dc:description>generated using python-pptx</dc:description>
  <cp:lastModifiedBy>VIVEK KUM@R</cp:lastModifiedBy>
  <cp:revision>2</cp:revision>
  <dcterms:created xsi:type="dcterms:W3CDTF">2013-01-27T09:14:16Z</dcterms:created>
  <dcterms:modified xsi:type="dcterms:W3CDTF">2026-08-31T16:37:20Z</dcterms:modified>
  <cp:category/>
</cp:coreProperties>
</file>