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5309" y="2567136"/>
            <a:ext cx="11041380" cy="754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940"/>
              </a:lnSpc>
            </a:pPr>
            <a:r>
              <a:rPr b="1" sz="5400" i="0" u="none">
                <a:solidFill>
                  <a:srgbClr val="FFFFFF"/>
                </a:solidFill>
                <a:latin typeface="Space Grotesk"/>
              </a:rPr>
              <a:t>Hospital ER </a:t>
            </a:r>
            <a:r>
              <a:rPr b="1" sz="5400" i="0" u="none">
                <a:solidFill>
                  <a:srgbClr val="F59E0B"/>
                </a:solidFill>
                <a:latin typeface="Space Grotesk"/>
              </a:rPr>
              <a:t>Operations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559522"/>
            <a:ext cx="7620000" cy="731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b="0" sz="1800" i="0" u="none">
                <a:solidFill>
                  <a:srgbClr val="D1D5DB"/>
                </a:solidFill>
                <a:latin typeface="Outfit"/>
              </a:rPr>
              <a:t>Comprehensive performance review of patient flow, triage efficiency, and demographic volume based on the 2023-2024 Dashboard Data.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275" y="2005012"/>
            <a:ext cx="11601450" cy="194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6000" i="0" u="none">
                <a:solidFill>
                  <a:srgbClr val="FFFFFF"/>
                </a:solidFill>
                <a:latin typeface="Space Grotesk"/>
              </a:rPr>
              <a:t>Project Overview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4548187"/>
            <a:ext cx="1104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Defining the scope and objectives of our ER data analysis.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2066925"/>
            <a:ext cx="5238750" cy="381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2047875"/>
            <a:ext cx="550068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E5E7EB"/>
                </a:solidFill>
                <a:latin typeface="Space Grotesk"/>
              </a:rPr>
              <a:t>Data-Driven Healthcare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2533650"/>
            <a:ext cx="523875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This initiative leverages a comprehensive dataset of Emergency Room records to identify critical bottlenecks in patient care and operational throughput.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275" y="2076450"/>
            <a:ext cx="5219700" cy="37909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7250" y="3638550"/>
            <a:ext cx="4953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1" sz="1500" i="0" u="none">
                <a:solidFill>
                  <a:srgbClr val="9CA3AF"/>
                </a:solidFill>
                <a:latin typeface="Outfit"/>
              </a:rPr>
              <a:t>Dataset Scope:</a:t>
            </a:r>
            <a:r>
              <a:rPr b="0" sz="1500" i="0" u="none">
                <a:solidFill>
                  <a:srgbClr val="9CA3AF"/>
                </a:solidFill>
                <a:latin typeface="Outfit"/>
              </a:rPr>
              <a:t> Analyzing 952 distinct patient interactions from 2023-2024.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4391025"/>
            <a:ext cx="4953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1" sz="1500" i="0" u="none">
                <a:solidFill>
                  <a:srgbClr val="9CA3AF"/>
                </a:solidFill>
                <a:latin typeface="Outfit"/>
              </a:rPr>
              <a:t>Dashboard Filtering:</a:t>
            </a:r>
            <a:r>
              <a:rPr b="0" sz="1500" i="0" u="none">
                <a:solidFill>
                  <a:srgbClr val="9CA3AF"/>
                </a:solidFill>
                <a:latin typeface="Outfit"/>
              </a:rPr>
              <a:t> The current analytical view isolates </a:t>
            </a:r>
            <a:r>
              <a:rPr b="1" sz="1500" i="0" u="none">
                <a:solidFill>
                  <a:srgbClr val="9CA3AF"/>
                </a:solidFill>
                <a:latin typeface="Outfit"/>
              </a:rPr>
              <a:t>479 specific records</a:t>
            </a:r>
            <a:r>
              <a:rPr b="0" sz="1500" i="0" u="none">
                <a:solidFill>
                  <a:srgbClr val="9CA3AF"/>
                </a:solidFill>
                <a:latin typeface="Outfit"/>
              </a:rPr>
              <a:t> for targeted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5143500"/>
            <a:ext cx="4953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1" sz="1500" i="0" u="none">
                <a:solidFill>
                  <a:srgbClr val="9CA3AF"/>
                </a:solidFill>
                <a:latin typeface="Outfit"/>
              </a:rPr>
              <a:t>Primary Goal:</a:t>
            </a:r>
            <a:r>
              <a:rPr b="0" sz="1500" i="0" u="none">
                <a:solidFill>
                  <a:srgbClr val="9CA3AF"/>
                </a:solidFill>
                <a:latin typeface="Outfit"/>
              </a:rPr>
              <a:t> Improve SLA compliance for wait times and elevate overall patient satisfaction scores.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3638550"/>
            <a:ext cx="190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1" sz="1500" i="0" u="none">
                <a:solidFill>
                  <a:srgbClr val="F59E0B"/>
                </a:solidFill>
                <a:latin typeface="Outfit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4391025"/>
            <a:ext cx="190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1" sz="1500" i="0" u="none">
                <a:solidFill>
                  <a:srgbClr val="F59E0B"/>
                </a:solidFill>
                <a:latin typeface="Outfi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5143500"/>
            <a:ext cx="190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1" sz="1500" i="0" u="none">
                <a:solidFill>
                  <a:srgbClr val="F59E0B"/>
                </a:solidFill>
                <a:latin typeface="Outfit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450" i="0" u="none">
                <a:solidFill>
                  <a:srgbClr val="FFFFFF"/>
                </a:solidFill>
                <a:latin typeface="Space Grotesk"/>
              </a:rPr>
              <a:t>Initiative </a:t>
            </a:r>
            <a:r>
              <a:rPr b="1" sz="3450" i="0" u="none">
                <a:solidFill>
                  <a:srgbClr val="38BDF8"/>
                </a:solidFill>
                <a:latin typeface="Space Grotesk"/>
              </a:rPr>
              <a:t>Background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" y="12668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085850"/>
            <a:ext cx="11049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9750" y="5943600"/>
            <a:ext cx="85725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sz="1500" i="1" u="none">
                <a:solidFill>
                  <a:srgbClr val="9CA3AF"/>
                </a:solidFill>
                <a:latin typeface="Outfit"/>
              </a:rPr>
              <a:t>Fig 1.0: Master ER Dashboard.</a:t>
            </a:r>
            <a:r>
              <a:rPr b="0" sz="1500" i="0" u="none">
                <a:solidFill>
                  <a:srgbClr val="9CA3AF"/>
                </a:solidFill>
                <a:latin typeface="Outfit"/>
              </a:rPr>
              <a:t> The interface aggregates key performance indicators, admission statuses, departmental referrals, and demographic distributions into a single, interactive pane of glass.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425" y="1247775"/>
            <a:ext cx="10725150" cy="424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0"/>
            <a:ext cx="11601450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450" i="0" u="none">
                <a:solidFill>
                  <a:srgbClr val="FFFFFF"/>
                </a:solidFill>
                <a:latin typeface="Space Grotesk"/>
              </a:rPr>
              <a:t>Executive </a:t>
            </a:r>
            <a:r>
              <a:rPr b="1" sz="3450" i="0" u="none">
                <a:solidFill>
                  <a:srgbClr val="38BDF8"/>
                </a:solidFill>
                <a:latin typeface="Space Grotesk"/>
              </a:rPr>
              <a:t>Dashboard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6953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275" y="2490787"/>
            <a:ext cx="11601450" cy="971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6000" i="0" u="none">
                <a:solidFill>
                  <a:srgbClr val="FFFFFF"/>
                </a:solidFill>
                <a:latin typeface="Space Grotesk"/>
              </a:rPr>
              <a:t>Core Performance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4062412"/>
            <a:ext cx="1104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Evaluating the top-level Key Performance Indicators (KPIs).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1576387"/>
            <a:ext cx="5238750" cy="14382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3252787"/>
            <a:ext cx="5238750" cy="14382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1750" y="4929187"/>
            <a:ext cx="5238750" cy="14382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576387"/>
            <a:ext cx="550068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E5E7EB"/>
                </a:solidFill>
                <a:latin typeface="Space Grotesk"/>
              </a:rPr>
              <a:t>Operational Baselines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2062162"/>
            <a:ext cx="523875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The dashboard isolates three primary metrics that define the current state of our emergency room efficiency based on the filtered selection.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3167062"/>
            <a:ext cx="5238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While patient volume remains steady, the </a:t>
            </a:r>
            <a:r>
              <a:rPr b="1" sz="1500" i="0" u="none">
                <a:solidFill>
                  <a:srgbClr val="9CA3AF"/>
                </a:solidFill>
                <a:latin typeface="Outfit"/>
              </a:rPr>
              <a:t>Average Wait Time of nearly 35 minutes</a:t>
            </a:r>
            <a:r>
              <a:rPr b="0" sz="1500" i="0" u="none">
                <a:solidFill>
                  <a:srgbClr val="9CA3AF"/>
                </a:solidFill>
                <a:latin typeface="Outfit"/>
              </a:rPr>
              <a:t> exceeds standard target SLAs. Furthermore, the </a:t>
            </a:r>
            <a:r>
              <a:rPr b="1" sz="1500" i="0" u="none">
                <a:solidFill>
                  <a:srgbClr val="9CA3AF"/>
                </a:solidFill>
                <a:latin typeface="Outfit"/>
              </a:rPr>
              <a:t>Patient Satisfaction Score (5.30)</a:t>
            </a:r>
            <a:r>
              <a:rPr b="0" sz="1500" i="0" u="none">
                <a:solidFill>
                  <a:srgbClr val="9CA3AF"/>
                </a:solidFill>
                <a:latin typeface="Outfit"/>
              </a:rPr>
              <a:t> indicates average-to-poor patient sentiment, directly correlating with extended wait times in the triage queue.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725" y="2066925"/>
            <a:ext cx="571500" cy="4572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2325" y="3743325"/>
            <a:ext cx="342900" cy="4572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10875" y="5419725"/>
            <a:ext cx="51435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05600" y="1871662"/>
            <a:ext cx="1452562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b="1" sz="4800" i="0" u="none">
                <a:solidFill>
                  <a:srgbClr val="FFFFFF"/>
                </a:solidFill>
                <a:latin typeface="Space Grotesk"/>
              </a:rPr>
              <a:t>479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600" y="2528887"/>
            <a:ext cx="1452562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9CA3AF"/>
                </a:solidFill>
                <a:latin typeface="Outfit SemiBold"/>
              </a:rPr>
              <a:t>NO. OF PATIENTS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600" y="3548062"/>
            <a:ext cx="1838325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b="1" sz="4800" i="0" u="none">
                <a:solidFill>
                  <a:srgbClr val="FFFFFF"/>
                </a:solidFill>
                <a:latin typeface="Space Grotesk"/>
              </a:rPr>
              <a:t>34.90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5600" y="4205287"/>
            <a:ext cx="18383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9CA3AF"/>
                </a:solidFill>
                <a:latin typeface="Outfit SemiBold"/>
              </a:rPr>
              <a:t>AVG. WAIT TIME (MIN)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5600" y="5224462"/>
            <a:ext cx="2600325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b="1" sz="4800" i="0" u="none">
                <a:solidFill>
                  <a:srgbClr val="FFFFFF"/>
                </a:solidFill>
                <a:latin typeface="Space Grotesk"/>
              </a:rPr>
              <a:t>5.30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5600" y="5881687"/>
            <a:ext cx="26003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9CA3AF"/>
                </a:solidFill>
                <a:latin typeface="Outfit SemiBold"/>
              </a:rPr>
              <a:t>PATIENT SATISFACTION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490537"/>
            <a:ext cx="11601450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450" i="0" u="none">
                <a:solidFill>
                  <a:srgbClr val="FFFFFF"/>
                </a:solidFill>
                <a:latin typeface="Space Grotesk"/>
              </a:rPr>
              <a:t>Top-Level </a:t>
            </a:r>
            <a:r>
              <a:rPr b="1" sz="3450" i="0" u="none">
                <a:solidFill>
                  <a:srgbClr val="38BDF8"/>
                </a:solidFill>
                <a:latin typeface="Space Grotesk"/>
              </a:rPr>
              <a:t>KPI 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1185862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275" y="2490787"/>
            <a:ext cx="11601450" cy="971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6000" i="0" u="none">
                <a:solidFill>
                  <a:srgbClr val="FFFFFF"/>
                </a:solidFill>
                <a:latin typeface="Space Grotesk"/>
              </a:rPr>
              <a:t>Patient Flow &amp;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4062412"/>
            <a:ext cx="1104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Analyzing SLA compliance, attendance status, and hospital admission rates.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24075"/>
            <a:ext cx="11049000" cy="3695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81750" y="2719387"/>
            <a:ext cx="550068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E5E7EB"/>
                </a:solidFill>
                <a:latin typeface="Space Grotesk"/>
              </a:rPr>
              <a:t>Critical SLA Breach Identified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81750" y="3205162"/>
            <a:ext cx="523875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The visual analysis reveals a significant operational bottleneck: </a:t>
            </a:r>
            <a:r>
              <a:rPr b="1" sz="1500" i="0" u="none">
                <a:solidFill>
                  <a:srgbClr val="9CA3AF"/>
                </a:solidFill>
                <a:latin typeface="Outfit"/>
              </a:rPr>
              <a:t>57% of all patients (273 individuals) experienced a delay</a:t>
            </a:r>
            <a:r>
              <a:rPr b="0" sz="1500" i="0" u="none">
                <a:solidFill>
                  <a:srgbClr val="9CA3AF"/>
                </a:solidFill>
                <a:latin typeface="Outfit"/>
              </a:rPr>
              <a:t>, failing to meet the required triage time standards.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1750" y="4310062"/>
            <a:ext cx="523875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This high volume of delayed care is the primary driver behind the low Patient Satisfaction score observed in the KPI overview. Restructuring the initial intake process is paramount.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450" i="0" u="none">
                <a:solidFill>
                  <a:srgbClr val="FFFFFF"/>
                </a:solidFill>
                <a:latin typeface="Space Grotesk"/>
              </a:rPr>
              <a:t>Wait Time SLA </a:t>
            </a:r>
            <a:r>
              <a:rPr b="1" sz="3450" i="0" u="none">
                <a:solidFill>
                  <a:srgbClr val="38BDF8"/>
                </a:solidFill>
                <a:latin typeface="Space Grotesk"/>
              </a:rPr>
              <a:t>Compliance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2668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414587"/>
            <a:ext cx="11049000" cy="31146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2414587"/>
            <a:ext cx="550068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E5E7EB"/>
                </a:solidFill>
                <a:latin typeface="Space Grotesk"/>
              </a:rPr>
              <a:t>High Acuity Bottlenecks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2900362"/>
            <a:ext cx="523875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The data shows an almost perfectly even split in admission outcomes, with </a:t>
            </a:r>
            <a:r>
              <a:rPr b="1" sz="1500" i="0" u="none">
                <a:solidFill>
                  <a:srgbClr val="9CA3AF"/>
                </a:solidFill>
                <a:latin typeface="Outfit"/>
              </a:rPr>
              <a:t>49% of ER visits (237 patients) resulting in a formal hospital admission.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4005262"/>
            <a:ext cx="5238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This extremely high acuity rate requires extensive physician resources, diagnostic testing, and inpatient bed coordination. When inpatient beds are unavailable, these admitted patients board in the ER, severely restricting front-end throughput and exacerbating the 57% delay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450" i="0" u="none">
                <a:solidFill>
                  <a:srgbClr val="FFFFFF"/>
                </a:solidFill>
                <a:latin typeface="Space Grotesk"/>
              </a:rPr>
              <a:t>Hospital </a:t>
            </a:r>
            <a:r>
              <a:rPr b="1" sz="3450" i="0" u="none">
                <a:solidFill>
                  <a:srgbClr val="38BDF8"/>
                </a:solidFill>
                <a:latin typeface="Space Grotesk"/>
              </a:rPr>
              <a:t>Admission Rates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2668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275" y="2005012"/>
            <a:ext cx="11601450" cy="194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6000" i="0" u="none">
                <a:solidFill>
                  <a:srgbClr val="FFFFFF"/>
                </a:solidFill>
                <a:latin typeface="Space Grotesk"/>
              </a:rPr>
              <a:t>Departmental &amp; Demographic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4548187"/>
            <a:ext cx="1104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Breaking down patient origins, age groups, and gender distributions.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95512"/>
            <a:ext cx="11049000" cy="35528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81750" y="2566987"/>
            <a:ext cx="550068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E5E7EB"/>
                </a:solidFill>
                <a:latin typeface="Space Grotesk"/>
              </a:rPr>
              <a:t>The Walk-In Burden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81750" y="3052762"/>
            <a:ext cx="523875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The referral data clearly illustrates that the vast majority of ER patients </a:t>
            </a:r>
            <a:r>
              <a:rPr b="1" sz="1500" i="0" u="none">
                <a:solidFill>
                  <a:srgbClr val="9CA3AF"/>
                </a:solidFill>
                <a:latin typeface="Outfit"/>
              </a:rPr>
              <a:t>(263 patients) arrived with "None"</a:t>
            </a:r>
            <a:r>
              <a:rPr b="0" sz="1500" i="0" u="none">
                <a:solidFill>
                  <a:srgbClr val="9CA3AF"/>
                </a:solidFill>
                <a:latin typeface="Outfit"/>
              </a:rPr>
              <a:t> (no prior departmental or GP referral).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1750" y="4157662"/>
            <a:ext cx="523875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Unreferred, walk-in patients typically require more extensive initial diagnostics, administrative processing, and triage time compared to patients referred by a General Practice (115 patients). This directly impacts the triage queue speed.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450" i="0" u="none">
                <a:solidFill>
                  <a:srgbClr val="FFFFFF"/>
                </a:solidFill>
                <a:latin typeface="Space Grotesk"/>
              </a:rPr>
              <a:t>Department </a:t>
            </a:r>
            <a:r>
              <a:rPr b="1" sz="3450" i="0" u="none">
                <a:solidFill>
                  <a:srgbClr val="38BDF8"/>
                </a:solidFill>
                <a:latin typeface="Space Grotesk"/>
              </a:rPr>
              <a:t>Referral Volume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2668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57350"/>
            <a:ext cx="11049000" cy="4629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450" i="0" u="none">
                <a:solidFill>
                  <a:srgbClr val="FFFFFF"/>
                </a:solidFill>
                <a:latin typeface="Space Grotesk"/>
              </a:rPr>
              <a:t>Demographic Volume </a:t>
            </a:r>
            <a:r>
              <a:rPr b="1" sz="3450" i="0" u="none">
                <a:solidFill>
                  <a:srgbClr val="38BDF8"/>
                </a:solidFill>
                <a:latin typeface="Space Grotesk"/>
              </a:rPr>
              <a:t>(Age Groups)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2668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24075"/>
            <a:ext cx="11049000" cy="3695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2719387"/>
            <a:ext cx="550068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E5E7EB"/>
                </a:solidFill>
                <a:latin typeface="Space Grotesk"/>
              </a:rPr>
              <a:t>Balanced Patient Population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205162"/>
            <a:ext cx="5238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The dashboard indicates a nearly perfectly balanced demographic split across the analyzed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4005262"/>
            <a:ext cx="523875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Males represent 51% of the patient volume, while Females account for 49%. This suggests that ER utilization in this sector is not heavily skewed by gender-specific ailments, and general medical staffing is appropriately aligned.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450" i="0" u="none">
                <a:solidFill>
                  <a:srgbClr val="FFFFFF"/>
                </a:solidFill>
                <a:latin typeface="Space Grotesk"/>
              </a:rPr>
              <a:t>Gender-Wise </a:t>
            </a:r>
            <a:r>
              <a:rPr b="1" sz="3450" i="0" u="none">
                <a:solidFill>
                  <a:srgbClr val="38BDF8"/>
                </a:solidFill>
                <a:latin typeface="Space Grotesk"/>
              </a:rPr>
              <a:t>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2668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5500687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450" i="0" u="none">
                <a:solidFill>
                  <a:srgbClr val="FFFFFF"/>
                </a:solidFill>
                <a:latin typeface="Space Grotesk"/>
              </a:rPr>
              <a:t>Strategic </a:t>
            </a:r>
            <a:r>
              <a:rPr b="1" sz="3450" i="0" u="none">
                <a:solidFill>
                  <a:srgbClr val="38BDF8"/>
                </a:solidFill>
                <a:latin typeface="Space Grotesk"/>
              </a:rPr>
              <a:t>Action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266825"/>
            <a:ext cx="523875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0"/>
            <a:ext cx="5810250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895475"/>
            <a:ext cx="550068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E5E7EB"/>
                </a:solidFill>
                <a:latin typeface="Space Grotesk"/>
              </a:rPr>
              <a:t>Data-Driven Interventions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2381250"/>
            <a:ext cx="5238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Based on the visual dashboard analytics, we recommend the following immediate operational shifts: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3181350"/>
            <a:ext cx="4953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1" sz="1500" i="0" u="none">
                <a:solidFill>
                  <a:srgbClr val="9CA3AF"/>
                </a:solidFill>
                <a:latin typeface="Outfit"/>
              </a:rPr>
              <a:t>Fast-Track Triage:</a:t>
            </a:r>
            <a:r>
              <a:rPr b="0" sz="1500" i="0" u="none">
                <a:solidFill>
                  <a:srgbClr val="9CA3AF"/>
                </a:solidFill>
                <a:latin typeface="Outfit"/>
              </a:rPr>
              <a:t> Implement a dedicated lane for the massive volume of "None/Unreferred" walk-ins to combat the 57% Delay rate.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38625"/>
            <a:ext cx="4953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1" sz="1500" i="0" u="none">
                <a:solidFill>
                  <a:srgbClr val="9CA3AF"/>
                </a:solidFill>
                <a:latin typeface="Outfit"/>
              </a:rPr>
              <a:t>Specialized Staffing:</a:t>
            </a:r>
            <a:r>
              <a:rPr b="0" sz="1500" i="0" u="none">
                <a:solidFill>
                  <a:srgbClr val="9CA3AF"/>
                </a:solidFill>
                <a:latin typeface="Outfit"/>
              </a:rPr>
              <a:t> Align pediatric and geriatric nursing specialists to match the observed bimodal volume peaks.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991100"/>
            <a:ext cx="4953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1" sz="1500" i="0" u="none">
                <a:solidFill>
                  <a:srgbClr val="9CA3AF"/>
                </a:solidFill>
                <a:latin typeface="Outfit"/>
              </a:rPr>
              <a:t>Admission Streamlining:</a:t>
            </a:r>
            <a:r>
              <a:rPr b="0" sz="1500" i="0" u="none">
                <a:solidFill>
                  <a:srgbClr val="9CA3AF"/>
                </a:solidFill>
                <a:latin typeface="Outfit"/>
              </a:rPr>
              <a:t> With 49% of patients requiring admission, expedite inpatient bed turnaround to clear ER space faster.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3181350"/>
            <a:ext cx="190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1" sz="1500" i="0" u="none">
                <a:solidFill>
                  <a:srgbClr val="F59E0B"/>
                </a:solidFill>
                <a:latin typeface="Outfi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4238625"/>
            <a:ext cx="190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1" sz="1500" i="0" u="none">
                <a:solidFill>
                  <a:srgbClr val="F59E0B"/>
                </a:solidFill>
                <a:latin typeface="Outfit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4991100"/>
            <a:ext cx="190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1" sz="1500" i="0" u="none">
                <a:solidFill>
                  <a:srgbClr val="F59E0B"/>
                </a:solidFill>
                <a:latin typeface="Outfit"/>
              </a:rPr>
              <a:t>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205287"/>
            <a:ext cx="11049000" cy="5143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5275" y="2138362"/>
            <a:ext cx="11601450" cy="1095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6750" i="0" u="none">
                <a:solidFill>
                  <a:srgbClr val="38BDF8"/>
                </a:solidFill>
                <a:latin typeface="Space Grotesk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424237"/>
            <a:ext cx="1104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sz="1500" i="0" u="none">
                <a:solidFill>
                  <a:srgbClr val="9CA3AF"/>
                </a:solidFill>
                <a:latin typeface="Outfit"/>
              </a:rPr>
              <a:t>ER Dashboard Analytics &amp; Operational Review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1500" y="3191916"/>
            <a:ext cx="6905625" cy="78477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3967162"/>
            <a:ext cx="6905625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3967162"/>
            <a:ext cx="6905625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341340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66875" y="3334791"/>
            <a:ext cx="5810250" cy="198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b="0" sz="975" i="0" u="none">
                <a:solidFill>
                  <a:srgbClr val="9CA3AF"/>
                </a:solidFill>
                <a:latin typeface="Outfit"/>
              </a:rPr>
              <a:t>https://t3.ftcdn.net/jpg/08/94/34/96/360_F_894349605_Wq3g7yT6N5wWvSgIe7kHwPZJq0n0kXjE.jpg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3580507"/>
            <a:ext cx="5810250" cy="243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9CA3AF"/>
                </a:solidFill>
                <a:latin typeface="Outfit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Outfit"/>
              </a:rPr>
              <a:t>stock.adobe.com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126110"/>
            <a:ext cx="857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66875" y="4119562"/>
            <a:ext cx="5810250" cy="198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b="0" sz="975" i="0" u="none">
                <a:solidFill>
                  <a:srgbClr val="9CA3AF"/>
                </a:solidFill>
                <a:latin typeface="Outfit"/>
              </a:rPr>
              <a:t>https://t4.ftcdn.net/jpg/08/42/10/43/360_F_842104332_H8w7n6lR05206Y2C3YvG66o1G2P709qO.jpg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4365277"/>
            <a:ext cx="5810250" cy="243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9CA3AF"/>
                </a:solidFill>
                <a:latin typeface="Outfit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Outfit"/>
              </a:rPr>
              <a:t>stock.adobe.com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450" i="0" u="none">
                <a:solidFill>
                  <a:srgbClr val="FFFFFF"/>
                </a:solidFill>
                <a:latin typeface="Space Grotesk"/>
              </a:rPr>
              <a:t>Image Sources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12668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" y="3191916"/>
            <a:ext cx="7391400" cy="78477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3967162"/>
            <a:ext cx="73914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3967162"/>
            <a:ext cx="73914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341340"/>
            <a:ext cx="857250" cy="476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66875" y="3334791"/>
            <a:ext cx="6296025" cy="198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b="0" sz="975" i="0" u="none">
                <a:solidFill>
                  <a:srgbClr val="9CA3AF"/>
                </a:solidFill>
                <a:latin typeface="Outfit"/>
              </a:rPr>
              <a:t>https://www.mdpi.com/sensors/sensors-25-06472/article_deploy/html/images/sensors-25-06472-g001-550.jpg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6875" y="3580507"/>
            <a:ext cx="6296025" cy="243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9CA3AF"/>
                </a:solidFill>
                <a:latin typeface="Outfit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Outfit"/>
              </a:rPr>
              <a:t>www.mdpi.com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126110"/>
            <a:ext cx="857250" cy="476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6875" y="4119562"/>
            <a:ext cx="6296025" cy="198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b="0" sz="975" i="0" u="none">
                <a:solidFill>
                  <a:srgbClr val="9CA3AF"/>
                </a:solidFill>
                <a:latin typeface="Outfit"/>
              </a:rPr>
              <a:t>https://qualify.health/wp-content/uploads/2025/09/hospital-revenue-cycle-blog-featured.jpg.webp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875" y="4365277"/>
            <a:ext cx="6296025" cy="243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9CA3AF"/>
                </a:solidFill>
                <a:latin typeface="Outfit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Outfit"/>
              </a:rPr>
              <a:t>qualify.health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450" i="0" u="none">
                <a:solidFill>
                  <a:srgbClr val="FFFFFF"/>
                </a:solidFill>
                <a:latin typeface="Space Grotesk"/>
              </a:rPr>
              <a:t>Image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12668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